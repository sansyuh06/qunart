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61" r:id="rId7"/>
    <p:sldId id="262" r:id="rId8"/>
    <p:sldId id="264" r:id="rId9"/>
    <p:sldId id="294" r:id="rId10"/>
    <p:sldId id="292" r:id="rId11"/>
    <p:sldId id="280" r:id="rId12"/>
    <p:sldId id="293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9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20XX</c:v>
                </c:pt>
                <c:pt idx="3">
                  <c:v>20XX</c:v>
                </c:pt>
              </c:strCache>
            </c:strRef>
          </c:cat>
          <c:val>
            <c:numRef>
              <c:f>Sheet1!$B$2:$B$5</c:f>
              <c:numCache>
                <c:formatCode>[$$-409]#,##0</c:formatCode>
                <c:ptCount val="4"/>
                <c:pt idx="0">
                  <c:v>2000</c:v>
                </c:pt>
                <c:pt idx="1">
                  <c:v>12000</c:v>
                </c:pt>
                <c:pt idx="2">
                  <c:v>30000</c:v>
                </c:pt>
                <c:pt idx="3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0-4025-ABCB-85931C353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2"/>
        <c:overlap val="30"/>
        <c:axId val="694597680"/>
        <c:axId val="694598992"/>
      </c:barChart>
      <c:catAx>
        <c:axId val="69459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598992"/>
        <c:crosses val="autoZero"/>
        <c:auto val="1"/>
        <c:lblAlgn val="ctr"/>
        <c:lblOffset val="100"/>
        <c:noMultiLvlLbl val="0"/>
      </c:catAx>
      <c:valAx>
        <c:axId val="694598992"/>
        <c:scaling>
          <c:orientation val="minMax"/>
          <c:max val="40000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</c:spPr>
        </c:majorGridlines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59768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63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439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701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524" y="4400334"/>
            <a:ext cx="6449381" cy="1122202"/>
          </a:xfrm>
        </p:spPr>
        <p:txBody>
          <a:bodyPr/>
          <a:lstStyle/>
          <a:p>
            <a:r>
              <a:rPr lang="en-IN" sz="4800" dirty="0"/>
              <a:t>Qunart</a:t>
            </a:r>
            <a:endParaRPr lang="en-IN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9600" y="5522536"/>
            <a:ext cx="4941770" cy="1122202"/>
          </a:xfrm>
        </p:spPr>
        <p:txBody>
          <a:bodyPr/>
          <a:lstStyle/>
          <a:p>
            <a:r>
              <a:rPr lang="en-IN" dirty="0"/>
              <a:t>By SANEICS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198" y="1817456"/>
            <a:ext cx="2479376" cy="491329"/>
          </a:xfrm>
        </p:spPr>
        <p:txBody>
          <a:bodyPr/>
          <a:lstStyle/>
          <a:p>
            <a:r>
              <a:rPr lang="en-US" dirty="0"/>
              <a:t>Who are we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44" y="2957092"/>
            <a:ext cx="7923158" cy="2750950"/>
          </a:xfrm>
        </p:spPr>
        <p:txBody>
          <a:bodyPr>
            <a:noAutofit/>
          </a:bodyPr>
          <a:lstStyle/>
          <a:p>
            <a:r>
              <a:rPr lang="en-US" sz="2000" dirty="0"/>
              <a:t>At </a:t>
            </a:r>
            <a:r>
              <a:rPr lang="en-IN" sz="2000" dirty="0"/>
              <a:t>Qunart</a:t>
            </a:r>
            <a:r>
              <a:rPr lang="en-US" sz="2000" dirty="0"/>
              <a:t>, we use quantum computing to compress the AI pipeline and make them faster and efficient based on the user’s preference.</a:t>
            </a:r>
          </a:p>
          <a:p>
            <a:r>
              <a:rPr lang="en-US" sz="2000" dirty="0"/>
              <a:t> Our mix of quantum and classical techniques to reduces the number of features AI needs without losing its accuracy.</a:t>
            </a:r>
            <a:endParaRPr lang="en-IN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Complexity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/>
          <a:lstStyle/>
          <a:p>
            <a:r>
              <a:rPr lang="en-IN" dirty="0"/>
              <a:t>Redundancy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/>
          <a:lstStyle/>
          <a:p>
            <a:r>
              <a:rPr lang="en-IN" dirty="0"/>
              <a:t>Overfitting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/>
          <a:lstStyle/>
          <a:p>
            <a:r>
              <a:rPr lang="en-IN" dirty="0"/>
              <a:t>Noise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/>
          <a:lstStyle/>
          <a:p>
            <a:r>
              <a:rPr lang="en-US" dirty="0"/>
              <a:t>High-dimensional data increases model training time and makes optimization harder.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/>
          <a:lstStyle/>
          <a:p>
            <a:r>
              <a:rPr lang="en-US" dirty="0"/>
              <a:t>Many features overlap or carry the same information, bloating the pipeline without adding value.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/>
          <a:lstStyle/>
          <a:p>
            <a:r>
              <a:rPr lang="en-US" dirty="0"/>
              <a:t>Excessive input dimensions can cause models to memorize rather than generalize.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/>
          <a:lstStyle/>
          <a:p>
            <a:r>
              <a:rPr lang="en-US" dirty="0"/>
              <a:t>Extra features often introduce noise, reducing model accuracy and clarity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b="1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b="1" dirty="0"/>
              <a:t>APPROACH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/>
          <a:p>
            <a:r>
              <a:rPr lang="en-IN" dirty="0"/>
              <a:t>Qunart</a:t>
            </a:r>
            <a:r>
              <a:rPr lang="en-US" dirty="0"/>
              <a:t> combines quantum and classical algorithms to compress AI pipelines without sacrificing accuracy.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TARGET AUDIENCE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/>
          <a:p>
            <a:r>
              <a:rPr lang="en-US" dirty="0"/>
              <a:t>Our target audience is </a:t>
            </a:r>
            <a:r>
              <a:rPr lang="en-IN" dirty="0"/>
              <a:t>researchers &amp; developers. </a:t>
            </a:r>
            <a:r>
              <a:rPr lang="en-US" dirty="0"/>
              <a:t>Ideal for ML researchers, data scientists, and quantum developers looking for faster, leaner models.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65427" y="4319430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EFFORTLESS OPTIMIZATION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/>
          <a:lstStyle/>
          <a:p>
            <a:r>
              <a:rPr lang="en-US" dirty="0"/>
              <a:t>Reduce expenses for replacement products 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EASY TO USE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/>
          <a:lstStyle/>
          <a:p>
            <a:r>
              <a:rPr lang="en-US" dirty="0"/>
              <a:t>Simple design that gives customers the targeted information they need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2372263"/>
            <a:ext cx="2838989" cy="504287"/>
          </a:xfrm>
        </p:spPr>
        <p:txBody>
          <a:bodyPr/>
          <a:lstStyle/>
          <a:p>
            <a:r>
              <a:rPr lang="en-IN" b="1" dirty="0"/>
              <a:t>Why</a:t>
            </a:r>
            <a:r>
              <a:rPr lang="en-US" b="1" dirty="0"/>
              <a:t> </a:t>
            </a:r>
            <a:r>
              <a:rPr lang="en-IN" b="1" dirty="0"/>
              <a:t>Qunart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208" y="3367475"/>
            <a:ext cx="8332237" cy="28467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1800" b="1" dirty="0"/>
              <a:t>Qunart</a:t>
            </a:r>
            <a:r>
              <a:rPr lang="en-US" sz="1800" dirty="0"/>
              <a:t> provides an efficient, explainable way to compress AI pipelines using quantum techniques.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It offers significant compression, retains model accuracy, and can be used in real-time applications without cloud dependencies.</a:t>
            </a:r>
            <a:br>
              <a:rPr lang="en-US" sz="1800" dirty="0"/>
            </a:br>
            <a:r>
              <a:rPr lang="en-US" sz="1800" dirty="0"/>
              <a:t>With growing applications in IoT, mobile devices, and real-time analytics</a:t>
            </a:r>
            <a:br>
              <a:rPr lang="en-US" sz="1800" dirty="0"/>
            </a:br>
            <a:r>
              <a:rPr lang="en-IN" sz="1800" b="1" dirty="0"/>
              <a:t>Qunart</a:t>
            </a:r>
            <a:r>
              <a:rPr lang="en-US" sz="1800" dirty="0"/>
              <a:t> is a powerful tool for AI model optimization.</a:t>
            </a:r>
            <a:endParaRPr lang="en-US" sz="1800" noProof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DAC3-B654-E65A-F744-2A1D4E7D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Qunart 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CAB3D-E25B-0EC2-EFF8-F1EE032A8D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6660" y="193415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Quantum Scoring</a:t>
            </a:r>
            <a:r>
              <a:rPr lang="en-IN" dirty="0"/>
              <a:t>: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25252-2AF2-BB68-15F7-91C8B2850A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9680" y="2323030"/>
            <a:ext cx="5431971" cy="557950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Quantum circuits encode classical data via </a:t>
            </a:r>
            <a:r>
              <a:rPr lang="en-IN" dirty="0" err="1"/>
              <a:t>ZZFeatureMap.StatevectorEstimator</a:t>
            </a:r>
            <a:r>
              <a:rPr lang="en-IN" dirty="0"/>
              <a:t> computes the expectation value of an observable (e.g., Z⊗Z).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6C668-0AAB-C072-4C6C-0ADE2838E1A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46660" y="2777210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Classical Augmentation</a:t>
            </a:r>
            <a:r>
              <a:rPr lang="en-IN" dirty="0"/>
              <a:t>: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F5354A-3906-A9E1-FD91-C1F6F9688D4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9680" y="3071373"/>
            <a:ext cx="5431971" cy="557950"/>
          </a:xfrm>
        </p:spPr>
        <p:txBody>
          <a:bodyPr/>
          <a:lstStyle/>
          <a:p>
            <a:r>
              <a:rPr lang="en-US" dirty="0"/>
              <a:t>Pearson correlation between features and target is used to enhance the quantum scores.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B99404-848A-CD74-70F0-3F6E94B62F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46660" y="3596515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Feature Selection</a:t>
            </a:r>
            <a:r>
              <a:rPr lang="en-IN" dirty="0"/>
              <a:t>:</a:t>
            </a:r>
          </a:p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380A4A-D253-F0CB-72EC-44CAB206C19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9680" y="3970724"/>
            <a:ext cx="5431971" cy="557950"/>
          </a:xfrm>
        </p:spPr>
        <p:txBody>
          <a:bodyPr/>
          <a:lstStyle/>
          <a:p>
            <a:r>
              <a:rPr lang="en-US" dirty="0"/>
              <a:t>Features are ranked based on quantum scores and correlation, then top-N are selected.</a:t>
            </a:r>
            <a:endParaRPr lang="en-IN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2F854-B7A2-6D15-E516-8D75D83F5C5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D832EC-5631-127E-ACA0-E8F8A091E8F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D60C134-B84B-FBF4-20BD-ADC6BF117F7F}"/>
              </a:ext>
            </a:extLst>
          </p:cNvPr>
          <p:cNvSpPr txBox="1">
            <a:spLocks/>
          </p:cNvSpPr>
          <p:nvPr/>
        </p:nvSpPr>
        <p:spPr>
          <a:xfrm>
            <a:off x="4846660" y="4641017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Mathematical proof of scoring</a:t>
            </a:r>
            <a:r>
              <a:rPr lang="en-IN" dirty="0"/>
              <a:t>: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7">
                <a:extLst>
                  <a:ext uri="{FF2B5EF4-FFF2-40B4-BE49-F238E27FC236}">
                    <a16:creationId xmlns:a16="http://schemas.microsoft.com/office/drawing/2014/main" id="{D72DEE30-156E-C3E5-F83C-EF9AC82BE4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67196" y="4937565"/>
                <a:ext cx="3243942" cy="4329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𝑆𝑐𝑜𝑟𝑒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​=⟨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​)∣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​)⟩(1+∣</m:t>
                      </m:r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∣)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 Placeholder 7">
                <a:extLst>
                  <a:ext uri="{FF2B5EF4-FFF2-40B4-BE49-F238E27FC236}">
                    <a16:creationId xmlns:a16="http://schemas.microsoft.com/office/drawing/2014/main" id="{D72DEE30-156E-C3E5-F83C-EF9AC82BE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196" y="4937565"/>
                <a:ext cx="3243942" cy="4329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7">
                <a:extLst>
                  <a:ext uri="{FF2B5EF4-FFF2-40B4-BE49-F238E27FC236}">
                    <a16:creationId xmlns:a16="http://schemas.microsoft.com/office/drawing/2014/main" id="{162585A8-BCFB-E61B-4A66-F1784F0B1F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14515" y="5262368"/>
                <a:ext cx="6538821" cy="8463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Where 𝐻 is the observable,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​) </m:t>
                    </m:r>
                  </m:oMath>
                </a14:m>
                <a:r>
                  <a:rPr lang="en-US" dirty="0"/>
                  <a:t>is the quantum state,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 is the classical correlation. </a:t>
                </a:r>
              </a:p>
            </p:txBody>
          </p:sp>
        </mc:Choice>
        <mc:Fallback xmlns="">
          <p:sp>
            <p:nvSpPr>
              <p:cNvPr id="20" name="Text Placeholder 7">
                <a:extLst>
                  <a:ext uri="{FF2B5EF4-FFF2-40B4-BE49-F238E27FC236}">
                    <a16:creationId xmlns:a16="http://schemas.microsoft.com/office/drawing/2014/main" id="{162585A8-BCFB-E61B-4A66-F1784F0B1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515" y="5262368"/>
                <a:ext cx="6538821" cy="846301"/>
              </a:xfrm>
              <a:prstGeom prst="rect">
                <a:avLst/>
              </a:prstGeom>
              <a:blipFill>
                <a:blip r:embed="rId3"/>
                <a:stretch>
                  <a:fillRect l="-280" t="-1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15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Market comparison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1455DF-5CEC-44A2-A92D-8E901D15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3855" y="3064615"/>
            <a:ext cx="1240971" cy="823912"/>
          </a:xfrm>
        </p:spPr>
        <p:txBody>
          <a:bodyPr/>
          <a:lstStyle/>
          <a:p>
            <a:r>
              <a:rPr lang="en-US" dirty="0"/>
              <a:t>$3B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7E7B18-D05F-4C44-8718-8C671160FC9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475514" y="3064615"/>
            <a:ext cx="1240971" cy="823912"/>
          </a:xfrm>
        </p:spPr>
        <p:txBody>
          <a:bodyPr/>
          <a:lstStyle/>
          <a:p>
            <a:r>
              <a:rPr lang="en-US" dirty="0"/>
              <a:t>$2B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EAD5C6-02F0-4D27-8D85-1BD5EA833D6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887174" y="3064615"/>
            <a:ext cx="1240971" cy="823912"/>
          </a:xfrm>
        </p:spPr>
        <p:txBody>
          <a:bodyPr/>
          <a:lstStyle/>
          <a:p>
            <a:r>
              <a:rPr lang="en-US" dirty="0"/>
              <a:t>$1B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91D6145-F7F7-43DE-A16B-BF4F96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/>
          <a:lstStyle/>
          <a:p>
            <a:r>
              <a:rPr lang="en-IN" dirty="0"/>
              <a:t>AI tooling market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Autofit/>
          </a:bodyPr>
          <a:lstStyle/>
          <a:p>
            <a:r>
              <a:rPr lang="en-IN" dirty="0"/>
              <a:t>In AutoML &amp; ModelOps alone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18AFADE-B54F-4988-8000-B9336A3953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/>
          <a:lstStyle/>
          <a:p>
            <a:r>
              <a:rPr lang="en-US" dirty="0"/>
              <a:t>Few competitors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5AA25980-D334-4FC0-9091-936E53B8D32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/>
          <a:lstStyle/>
          <a:p>
            <a:r>
              <a:rPr lang="en-US" dirty="0"/>
              <a:t>Obtainable market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cap="all" dirty="0"/>
              <a:t>Qunart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Our competition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>
            <a:normAutofit/>
          </a:bodyPr>
          <a:lstStyle/>
          <a:p>
            <a:r>
              <a:rPr lang="en-US" dirty="0"/>
              <a:t>High efficiency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38732" y="2378452"/>
            <a:ext cx="1183179" cy="492025"/>
          </a:xfrm>
        </p:spPr>
        <p:txBody>
          <a:bodyPr>
            <a:normAutofit/>
          </a:bodyPr>
          <a:lstStyle/>
          <a:p>
            <a:r>
              <a:rPr lang="en-IN" dirty="0"/>
              <a:t>Scikit-learn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F7EE2E1-DA9E-4645-BC0D-305C1F12118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80505" y="2397454"/>
            <a:ext cx="1706965" cy="1048575"/>
          </a:xfrm>
        </p:spPr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BD1918-91E9-45FF-B758-93DAFA9EAF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1894" y="3528829"/>
            <a:ext cx="1393863" cy="492025"/>
          </a:xfrm>
        </p:spPr>
        <p:txBody>
          <a:bodyPr/>
          <a:lstStyle/>
          <a:p>
            <a:r>
              <a:rPr lang="en-US" dirty="0"/>
              <a:t>Affordable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40449" y="3528829"/>
            <a:ext cx="1380681" cy="492025"/>
          </a:xfrm>
        </p:spPr>
        <p:txBody>
          <a:bodyPr>
            <a:normAutofit/>
          </a:bodyPr>
          <a:lstStyle/>
          <a:p>
            <a:r>
              <a:rPr lang="en-US" dirty="0"/>
              <a:t>Expensive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25FED20-8F0E-4B86-88AD-F902806B2C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10965" y="4543021"/>
            <a:ext cx="1183179" cy="492025"/>
          </a:xfrm>
        </p:spPr>
        <p:txBody>
          <a:bodyPr/>
          <a:lstStyle/>
          <a:p>
            <a:r>
              <a:rPr lang="en-IN" b="1" dirty="0"/>
              <a:t>PCA </a:t>
            </a:r>
            <a:endParaRPr lang="en-US" b="1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8D7422-F48C-4829-8937-7DA701F330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1077" y="3762562"/>
            <a:ext cx="1183179" cy="492025"/>
          </a:xfrm>
        </p:spPr>
        <p:txBody>
          <a:bodyPr/>
          <a:lstStyle/>
          <a:p>
            <a:r>
              <a:rPr lang="en-IN" b="1" dirty="0"/>
              <a:t>XGBoost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329531A-E68A-4913-9B66-062FBAC6D2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054" y="4207030"/>
            <a:ext cx="1183179" cy="492025"/>
          </a:xfrm>
        </p:spPr>
        <p:txBody>
          <a:bodyPr/>
          <a:lstStyle/>
          <a:p>
            <a:r>
              <a:rPr lang="en-IN" b="1" dirty="0"/>
              <a:t>AutoML </a:t>
            </a:r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>
            <a:normAutofit/>
          </a:bodyPr>
          <a:lstStyle/>
          <a:p>
            <a:r>
              <a:rPr lang="en-US" dirty="0"/>
              <a:t>Low efficiency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9ADCED5-CED8-4991-9B1E-DB7381BE74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2316" y="5123550"/>
            <a:ext cx="1183179" cy="492025"/>
          </a:xfrm>
        </p:spPr>
        <p:txBody>
          <a:bodyPr/>
          <a:lstStyle/>
          <a:p>
            <a:r>
              <a:rPr lang="en-IN" b="1" dirty="0"/>
              <a:t>Quantum Feature Selector</a:t>
            </a:r>
            <a:endParaRPr lang="en-US" b="1" dirty="0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8ADD2DBD-D314-47B1-BD25-DAF6D443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7E0A4-FE8E-4F7B-8370-1FA3484B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116CCE2-DE5B-4D04-8780-DE09E03B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30BF4B-0565-4413-BDB0-116E9B84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4567" y="382329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C73B38-496F-4951-89EB-38E1A77E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58B547-4844-4FC2-9B4E-C8A8DF4D6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890BF0-461E-41CE-AFC1-AD52C6B95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Graphic 61">
            <a:extLst>
              <a:ext uri="{FF2B5EF4-FFF2-40B4-BE49-F238E27FC236}">
                <a16:creationId xmlns:a16="http://schemas.microsoft.com/office/drawing/2014/main" id="{9201E1F5-4143-449F-8629-751D3600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74071" y="2331335"/>
            <a:ext cx="1519834" cy="1268594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0"/>
          <a:lstStyle/>
          <a:p>
            <a:r>
              <a:rPr lang="en-US" dirty="0"/>
              <a:t>TRACTION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5425916A-A2C0-45C3-9A48-E48DEB97F6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/>
          <a:lstStyle/>
          <a:p>
            <a:r>
              <a:rPr lang="en-US" dirty="0"/>
              <a:t>Forecasting for success</a:t>
            </a:r>
          </a:p>
        </p:txBody>
      </p:sp>
      <p:graphicFrame>
        <p:nvGraphicFramePr>
          <p:cNvPr id="53" name="Table 50">
            <a:extLst>
              <a:ext uri="{FF2B5EF4-FFF2-40B4-BE49-F238E27FC236}">
                <a16:creationId xmlns:a16="http://schemas.microsoft.com/office/drawing/2014/main" id="{7EB17215-3702-4854-86F9-086DB8BCA17E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634417373"/>
              </p:ext>
            </p:extLst>
          </p:nvPr>
        </p:nvGraphicFramePr>
        <p:xfrm>
          <a:off x="838200" y="2286000"/>
          <a:ext cx="6099051" cy="3503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63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1068233346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3019130451"/>
                    </a:ext>
                  </a:extLst>
                </a:gridCol>
              </a:tblGrid>
              <a:tr h="308774">
                <a:tc>
                  <a:txBody>
                    <a:bodyPr/>
                    <a:lstStyle/>
                    <a:p>
                      <a:pPr algn="r"/>
                      <a:r>
                        <a:rPr lang="en-US" sz="1400" b="0" cap="all" spc="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</a:rPr>
                        <a:t>Key Metrics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all" spc="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all" spc="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all" spc="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all" spc="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Clients</a:t>
                      </a:r>
                      <a:endParaRPr lang="ru-RU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Orders</a:t>
                      </a:r>
                      <a:endParaRPr lang="ru-RU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Gross revenue</a:t>
                      </a:r>
                      <a:endParaRPr lang="ru-RU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Net revenue</a:t>
                      </a:r>
                      <a:endParaRPr lang="ru-RU" sz="12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2025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12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2026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$10,000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$4,000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2028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300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$30,000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$25,000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21222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x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x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</a:t>
                      </a:r>
                      <a:r>
                        <a:rPr lang="en-US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xx,xxx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</a:t>
                      </a:r>
                      <a:r>
                        <a:rPr lang="en-US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x,xx,xxx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3171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54CD4A7-4E1A-4902-993B-81A396A367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rmAutofit/>
          </a:bodyPr>
          <a:lstStyle/>
          <a:p>
            <a:r>
              <a:rPr lang="en-US" dirty="0"/>
              <a:t>REVENUE BY YEAR</a:t>
            </a:r>
          </a:p>
        </p:txBody>
      </p:sp>
      <p:graphicFrame>
        <p:nvGraphicFramePr>
          <p:cNvPr id="34" name="Content Placeholder 13" descr="Chart">
            <a:extLst>
              <a:ext uri="{FF2B5EF4-FFF2-40B4-BE49-F238E27FC236}">
                <a16:creationId xmlns:a16="http://schemas.microsoft.com/office/drawing/2014/main" id="{9E19FFD2-695D-4BD0-AA46-41C8970D76E2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127945787"/>
              </p:ext>
            </p:extLst>
          </p:nvPr>
        </p:nvGraphicFramePr>
        <p:xfrm>
          <a:off x="7858125" y="2779713"/>
          <a:ext cx="3148013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076FA-2B16-4A6F-9631-8D175CE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5762" y="3031021"/>
            <a:ext cx="3660476" cy="795958"/>
          </a:xfrm>
        </p:spPr>
        <p:txBody>
          <a:bodyPr/>
          <a:lstStyle/>
          <a:p>
            <a:r>
              <a:rPr lang="en-US" sz="48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1312" y="3859833"/>
            <a:ext cx="3989376" cy="795958"/>
          </a:xfrm>
        </p:spPr>
        <p:txBody>
          <a:bodyPr>
            <a:normAutofit/>
          </a:bodyPr>
          <a:lstStyle/>
          <a:p>
            <a:r>
              <a:rPr lang="en-US" dirty="0"/>
              <a:t>Have a dataset? Try shrinking it using </a:t>
            </a:r>
            <a:r>
              <a:rPr lang="en-IN" dirty="0"/>
              <a:t>Qunart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IN" dirty="0"/>
              <a:t>Qunart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205</TotalTime>
  <Words>469</Words>
  <Application>Microsoft Office PowerPoint</Application>
  <PresentationFormat>Widescreen</PresentationFormat>
  <Paragraphs>107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Tenorite</vt:lpstr>
      <vt:lpstr>Monoline</vt:lpstr>
      <vt:lpstr>Qunart</vt:lpstr>
      <vt:lpstr>Who are we</vt:lpstr>
      <vt:lpstr>PROBLEM</vt:lpstr>
      <vt:lpstr>SOLUTION</vt:lpstr>
      <vt:lpstr>Why Qunart</vt:lpstr>
      <vt:lpstr>How Qunart Works</vt:lpstr>
      <vt:lpstr>Market comparison</vt:lpstr>
      <vt:lpstr>Our competition  </vt:lpstr>
      <vt:lpstr>TRACTION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Santhnu Sundar</dc:creator>
  <cp:lastModifiedBy>Akash Santhnu Sundar</cp:lastModifiedBy>
  <cp:revision>23</cp:revision>
  <dcterms:created xsi:type="dcterms:W3CDTF">2025-07-09T13:26:22Z</dcterms:created>
  <dcterms:modified xsi:type="dcterms:W3CDTF">2025-07-09T18:18:28Z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